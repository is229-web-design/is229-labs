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notesMasterIdLst>
    <p:notesMasterId r:id="rId3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526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IS229_All_Weeks_Formatted_Student_Materials/assets/week_12_visual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7315200" y="777240"/>
            <a:ext cx="4389120" cy="42062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1280160"/>
            <a:ext cx="6400800" cy="1417320"/>
          </a:xfrm>
          <a:prstGeom prst="rect">
            <a:avLst/>
          </a:prstGeom>
          <a:solidFill>
            <a:srgbClr val="174E7A">
              <a:alpha val="95000"/>
            </a:srgbClr>
          </a:solidFill>
          <a:ln w="12700">
            <a:solidFill>
              <a:srgbClr val="174E7A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94360" y="621792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IS229 WEB DESIGN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94360" y="1417320"/>
            <a:ext cx="6080760" cy="1234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Week 12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UX &amp; Testing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94360" y="2880360"/>
            <a:ext cx="6080760" cy="50292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85800" y="2953512"/>
            <a:ext cx="58978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Ensure the site is accessible, validated and optimized for performance.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94360" y="5532120"/>
            <a:ext cx="7406640" cy="530352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5800" y="5596128"/>
            <a:ext cx="713232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</a:rPr>
              <a:t>Prepared by Mr. Maxie Cletus Tepaiyan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</a:rPr>
              <a:t>School of Business Studies | Bachelor of Business in Information Technology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</a:rPr>
              <a:t>PNG University of Technology</a:t>
            </a:r>
            <a:endParaRPr lang="en-US" sz="8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12 | UX &amp; TESTING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Learning outcomes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685800" y="1508760"/>
            <a:ext cx="10698480" cy="4297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2000" dirty="0">
                <a:solidFill>
                  <a:srgbClr val="2A2F33"/>
                </a:solidFill>
              </a:rPr>
              <a:t>Ensure the site is accessible, validated and optimized for performance.</a:t>
            </a:r>
            <a:endParaRPr lang="en-US" sz="2000" dirty="0"/>
          </a:p>
          <a:p>
            <a:r>
              <a:rPr lang="en-US" sz="2000" dirty="0">
                <a:solidFill>
                  <a:srgbClr val="2A2F33"/>
                </a:solidFill>
              </a:rPr>
              <a:t>Explain the core programming/design concept for this week</a:t>
            </a:r>
            <a:endParaRPr lang="en-US" sz="2000" dirty="0"/>
          </a:p>
          <a:p>
            <a:r>
              <a:rPr lang="en-US" sz="2000" dirty="0">
                <a:solidFill>
                  <a:srgbClr val="2A2F33"/>
                </a:solidFill>
              </a:rPr>
              <a:t>Read and modify key code patterns</a:t>
            </a:r>
            <a:endParaRPr lang="en-US" sz="2000" dirty="0"/>
          </a:p>
          <a:p>
            <a:r>
              <a:rPr lang="en-US" sz="2000" dirty="0">
                <a:solidFill>
                  <a:srgbClr val="2A2F33"/>
                </a:solidFill>
              </a:rPr>
              <a:t>Test the weekly project increment</a:t>
            </a:r>
            <a:endParaRPr lang="en-US" sz="2000" dirty="0"/>
          </a:p>
          <a:p>
            <a:r>
              <a:rPr lang="en-US" sz="2000" dirty="0">
                <a:solidFill>
                  <a:srgbClr val="2A2F33"/>
                </a:solidFill>
              </a:rPr>
              <a:t>Prepare evidence for GitHub submission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12 | UX &amp; TESTING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Today's problem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pic>
        <p:nvPicPr>
          <p:cNvPr id="6" name="Image 0" descr="/mnt/data/IS229_All_Weeks_Formatted_Student_Materials/assets/week_12_visu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417320"/>
            <a:ext cx="5303520" cy="35661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46520" y="1463040"/>
            <a:ext cx="4983480" cy="3520440"/>
          </a:xfrm>
          <a:prstGeom prst="roundRect">
            <a:avLst>
              <a:gd name="adj" fmla="val 2078"/>
            </a:avLst>
          </a:prstGeom>
          <a:solidFill>
            <a:srgbClr val="FFF7DF"/>
          </a:solidFill>
          <a:ln w="13970">
            <a:solidFill>
              <a:srgbClr val="C89D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611112" y="1600200"/>
            <a:ext cx="465429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Why it matters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611112" y="1920240"/>
            <a:ext cx="4654296" cy="29535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Professional release requires evidence: tests, screenshots, validation reports and fixes.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12 | UX &amp; TESTING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Project before -&gt; after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594360" y="1572768"/>
            <a:ext cx="5257800" cy="3886200"/>
          </a:xfrm>
          <a:prstGeom prst="roundRect">
            <a:avLst>
              <a:gd name="adj" fmla="val 1882"/>
            </a:avLst>
          </a:prstGeom>
          <a:solidFill>
            <a:srgbClr val="F5F8FA"/>
          </a:solidFill>
          <a:ln w="13970">
            <a:solidFill>
              <a:srgbClr val="C9D4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1709928"/>
            <a:ext cx="492861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Before Week 12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58952" y="2029968"/>
            <a:ext cx="4928616" cy="33192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Week 11 completed dynamic data rendering and filter behaviour.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55080" y="1572768"/>
            <a:ext cx="5257800" cy="3886200"/>
          </a:xfrm>
          <a:prstGeom prst="roundRect">
            <a:avLst>
              <a:gd name="adj" fmla="val 1882"/>
            </a:avLst>
          </a:prstGeom>
          <a:solidFill>
            <a:srgbClr val="EAF6F1"/>
          </a:solidFill>
          <a:ln w="13970">
            <a:solidFill>
              <a:srgbClr val="9BCDB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19672" y="1709928"/>
            <a:ext cx="492861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After Week 12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19672" y="2029968"/>
            <a:ext cx="4928616" cy="33192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The site has documented quality evidence: validation, accessibility, responsiveness and performance checks.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12 | UX &amp; TESTING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What we build this week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pic>
        <p:nvPicPr>
          <p:cNvPr id="6" name="Image 0" descr="/mnt/data/IS229_All_Weeks_Formatted_Student_Materials/assets/week_12_visu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5440680" cy="3977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92240" y="1600200"/>
            <a:ext cx="4937760" cy="4206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800" dirty="0">
                <a:solidFill>
                  <a:srgbClr val="2A2F33"/>
                </a:solidFill>
              </a:rPr>
              <a:t>Create a testing checklist</a:t>
            </a:r>
            <a:endParaRPr lang="en-US" sz="1800" dirty="0"/>
          </a:p>
          <a:p>
            <a:r>
              <a:rPr lang="en-US" sz="1800" dirty="0">
                <a:solidFill>
                  <a:srgbClr val="2A2F33"/>
                </a:solidFill>
              </a:rPr>
              <a:t>Validate HTML and CSS</a:t>
            </a:r>
            <a:endParaRPr lang="en-US" sz="1800" dirty="0"/>
          </a:p>
          <a:p>
            <a:r>
              <a:rPr lang="en-US" sz="1800" dirty="0">
                <a:solidFill>
                  <a:srgbClr val="2A2F33"/>
                </a:solidFill>
              </a:rPr>
              <a:t>Test keyboard navigation and focus</a:t>
            </a:r>
            <a:endParaRPr lang="en-US" sz="1800" dirty="0"/>
          </a:p>
          <a:p>
            <a:r>
              <a:rPr lang="en-US" sz="1800" dirty="0">
                <a:solidFill>
                  <a:srgbClr val="2A2F33"/>
                </a:solidFill>
              </a:rPr>
              <a:t>Run responsive and performance checks</a:t>
            </a:r>
            <a:endParaRPr lang="en-US" sz="1800" dirty="0"/>
          </a:p>
          <a:p>
            <a:r>
              <a:rPr lang="en-US" sz="1800" dirty="0">
                <a:solidFill>
                  <a:srgbClr val="2A2F33"/>
                </a:solidFill>
              </a:rPr>
              <a:t>Record fixes in a test report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12 | UX &amp; TESTING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Core principle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777240" y="1508760"/>
            <a:ext cx="10607040" cy="1280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5466B"/>
                </a:solidFill>
              </a:rPr>
              <a:t>Professional release requires evidence: tests, screenshots, validation reports and fixes.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1097280" y="3840480"/>
            <a:ext cx="9875520" cy="1097280"/>
          </a:xfrm>
          <a:prstGeom prst="roundRect">
            <a:avLst>
              <a:gd name="adj" fmla="val 6667"/>
            </a:avLst>
          </a:prstGeom>
          <a:solidFill>
            <a:srgbClr val="EAF6F1"/>
          </a:solidFill>
          <a:ln w="13970">
            <a:solidFill>
              <a:srgbClr val="9BCDB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61872" y="3977640"/>
            <a:ext cx="954633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Keep in mind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61872" y="4297680"/>
            <a:ext cx="9546336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A good web developer can point to the code, the browser result, and the user reason behind the decision.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12 | UX &amp; TESTING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Key concepts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685800" y="1737360"/>
            <a:ext cx="3337560" cy="2286000"/>
          </a:xfrm>
          <a:prstGeom prst="roundRect">
            <a:avLst>
              <a:gd name="adj" fmla="val 3200"/>
            </a:avLst>
          </a:prstGeom>
          <a:solidFill>
            <a:srgbClr val="EAF6F1"/>
          </a:solidFill>
          <a:ln w="13970">
            <a:solidFill>
              <a:srgbClr val="9BCDB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" y="1874520"/>
            <a:ext cx="300837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Concept 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50392" y="2194560"/>
            <a:ext cx="3008376" cy="1719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Testing checks what users actually do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480560" y="1737360"/>
            <a:ext cx="3337560" cy="2286000"/>
          </a:xfrm>
          <a:prstGeom prst="roundRect">
            <a:avLst>
              <a:gd name="adj" fmla="val 3200"/>
            </a:avLst>
          </a:prstGeom>
          <a:solidFill>
            <a:srgbClr val="F5F8FA"/>
          </a:solidFill>
          <a:ln w="13970">
            <a:solidFill>
              <a:srgbClr val="CAD3D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45152" y="1874520"/>
            <a:ext cx="300837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Concept 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645152" y="2194560"/>
            <a:ext cx="3008376" cy="1719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Validation finds code errors that browsers may hide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75320" y="1737360"/>
            <a:ext cx="3337560" cy="2286000"/>
          </a:xfrm>
          <a:prstGeom prst="roundRect">
            <a:avLst>
              <a:gd name="adj" fmla="val 3200"/>
            </a:avLst>
          </a:prstGeom>
          <a:solidFill>
            <a:srgbClr val="EAF6F1"/>
          </a:solidFill>
          <a:ln w="13970">
            <a:solidFill>
              <a:srgbClr val="9BCDB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39912" y="1874520"/>
            <a:ext cx="300837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Concept 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439912" y="2194560"/>
            <a:ext cx="3008376" cy="1719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Performance and accessibility are quality requirements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12 | UX &amp; TESTING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Project anatomy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pic>
        <p:nvPicPr>
          <p:cNvPr id="6" name="Image 0" descr="/mnt/data/IS229_All_Weeks_Formatted_Student_Materials/assets/week_12_visu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234440"/>
            <a:ext cx="10881360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12 | UX &amp; TESTING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Key code pattern A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685800" y="1463040"/>
            <a:ext cx="5257800" cy="4389120"/>
          </a:xfrm>
          <a:prstGeom prst="roundRect">
            <a:avLst>
              <a:gd name="adj" fmla="val 1667"/>
            </a:avLst>
          </a:prstGeom>
          <a:solidFill>
            <a:srgbClr val="1F2D3A"/>
          </a:solidFill>
          <a:ln w="12700">
            <a:solidFill>
              <a:srgbClr val="1F2D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600200"/>
            <a:ext cx="4983480" cy="4114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Test note example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Expected: menu opens with keyboard.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Actual: focus moves to first link.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Result: Pass.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0" y="1600200"/>
            <a:ext cx="4983480" cy="3200400"/>
          </a:xfrm>
          <a:prstGeom prst="roundRect">
            <a:avLst>
              <a:gd name="adj" fmla="val 2286"/>
            </a:avLst>
          </a:prstGeom>
          <a:solidFill>
            <a:srgbClr val="EAF6F1"/>
          </a:solidFill>
          <a:ln w="13970">
            <a:solidFill>
              <a:srgbClr val="9BCDB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65392" y="1737360"/>
            <a:ext cx="465429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Explain it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565392" y="2057400"/>
            <a:ext cx="4654296" cy="2633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Which file contains this code?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Which line creates the visible change?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What should appear in the browser?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12 | UX &amp; TESTING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Code -&gt; visual result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685800" y="1371600"/>
            <a:ext cx="4480560" cy="4389120"/>
          </a:xfrm>
          <a:prstGeom prst="roundRect">
            <a:avLst>
              <a:gd name="adj" fmla="val 1667"/>
            </a:avLst>
          </a:prstGeom>
          <a:solidFill>
            <a:srgbClr val="1F2D3A"/>
          </a:solidFill>
          <a:ln w="12700">
            <a:solidFill>
              <a:srgbClr val="1F2D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508760"/>
            <a:ext cx="4206240" cy="4114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Test note example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Expected: menu opens with keyboard.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Actual: focus moves to first link.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Result: Pass.</a:t>
            </a:r>
            <a:endParaRPr lang="en-US" sz="1300" dirty="0"/>
          </a:p>
        </p:txBody>
      </p:sp>
      <p:pic>
        <p:nvPicPr>
          <p:cNvPr id="8" name="Image 0" descr="/mnt/data/IS229_All_Weeks_Formatted_Student_Materials/assets/week_12_visu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3560" y="1417320"/>
            <a:ext cx="5897880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12 | UX &amp; TESTING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What changed?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777240" y="1463040"/>
            <a:ext cx="10424160" cy="4343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2100" dirty="0">
                <a:solidFill>
                  <a:srgbClr val="2A2F33"/>
                </a:solidFill>
              </a:rPr>
              <a:t>Project file changed for UX &amp; Testing</a:t>
            </a:r>
            <a:endParaRPr lang="en-US" sz="2100" dirty="0"/>
          </a:p>
          <a:p>
            <a:r>
              <a:rPr lang="en-US" sz="2100" dirty="0">
                <a:solidFill>
                  <a:srgbClr val="2A2F33"/>
                </a:solidFill>
              </a:rPr>
              <a:t>The browser output is now closer to the required weekly evidence</a:t>
            </a:r>
            <a:endParaRPr lang="en-US" sz="2100" dirty="0"/>
          </a:p>
          <a:p>
            <a:r>
              <a:rPr lang="en-US" sz="2100" dirty="0">
                <a:solidFill>
                  <a:srgbClr val="2A2F33"/>
                </a:solidFill>
              </a:rPr>
              <a:t>The change supports a user task or quality requirement</a:t>
            </a:r>
            <a:endParaRPr lang="en-US" sz="2100" dirty="0"/>
          </a:p>
          <a:p>
            <a:r>
              <a:rPr lang="en-US" sz="2100" dirty="0">
                <a:solidFill>
                  <a:srgbClr val="2A2F33"/>
                </a:solidFill>
              </a:rPr>
              <a:t>The change can be tested and committed</a:t>
            </a:r>
            <a:endParaRPr lang="en-US" sz="2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12 | UX &amp; TESTING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Key code pattern B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685800" y="1417320"/>
            <a:ext cx="5303520" cy="4343400"/>
          </a:xfrm>
          <a:prstGeom prst="roundRect">
            <a:avLst>
              <a:gd name="adj" fmla="val 1684"/>
            </a:avLst>
          </a:prstGeom>
          <a:solidFill>
            <a:srgbClr val="1F2D3A"/>
          </a:solidFill>
          <a:ln w="12700">
            <a:solidFill>
              <a:srgbClr val="1F2D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554480"/>
            <a:ext cx="5029200" cy="4069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&lt;img src="assets/images/market.jpg" alt="Local market in Morobe"&gt;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92240" y="1828800"/>
            <a:ext cx="4754880" cy="2011680"/>
          </a:xfrm>
          <a:prstGeom prst="roundRect">
            <a:avLst>
              <a:gd name="adj" fmla="val 3636"/>
            </a:avLst>
          </a:prstGeom>
          <a:solidFill>
            <a:srgbClr val="FFF7DF"/>
          </a:solidFill>
          <a:ln w="13970">
            <a:solidFill>
              <a:srgbClr val="C89D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56832" y="1965960"/>
            <a:ext cx="442569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Why this pattern is needed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656832" y="2286000"/>
            <a:ext cx="4425696" cy="14447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The second pattern usually applies the same idea to a different component, state, layout or data flow.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12 | UX &amp; TESTING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Apply it to Morobe Discover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685800" y="1371600"/>
            <a:ext cx="4937760" cy="4114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900" dirty="0">
                <a:solidFill>
                  <a:srgbClr val="2A2F33"/>
                </a:solidFill>
              </a:rPr>
              <a:t>Create a testing checklist</a:t>
            </a:r>
            <a:endParaRPr lang="en-US" sz="1900" dirty="0"/>
          </a:p>
          <a:p>
            <a:r>
              <a:rPr lang="en-US" sz="1900" dirty="0">
                <a:solidFill>
                  <a:srgbClr val="2A2F33"/>
                </a:solidFill>
              </a:rPr>
              <a:t>Validate HTML and CSS</a:t>
            </a:r>
            <a:endParaRPr lang="en-US" sz="1900" dirty="0"/>
          </a:p>
          <a:p>
            <a:r>
              <a:rPr lang="en-US" sz="1900" dirty="0">
                <a:solidFill>
                  <a:srgbClr val="2A2F33"/>
                </a:solidFill>
              </a:rPr>
              <a:t>Test keyboard navigation and focus</a:t>
            </a:r>
            <a:endParaRPr lang="en-US" sz="1900" dirty="0"/>
          </a:p>
          <a:p>
            <a:r>
              <a:rPr lang="en-US" sz="1900" dirty="0">
                <a:solidFill>
                  <a:srgbClr val="2A2F33"/>
                </a:solidFill>
              </a:rPr>
              <a:t>Run responsive and performance checks</a:t>
            </a:r>
            <a:endParaRPr lang="en-US" sz="1900" dirty="0"/>
          </a:p>
        </p:txBody>
      </p:sp>
      <p:pic>
        <p:nvPicPr>
          <p:cNvPr id="7" name="Image 0" descr="/mnt/data/IS229_All_Weeks_Formatted_Student_Materials/assets/week_12_visu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0760" y="1371600"/>
            <a:ext cx="544068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12 | UX &amp; TESTING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Compare the approaches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594360" y="1572768"/>
            <a:ext cx="5257800" cy="3886200"/>
          </a:xfrm>
          <a:prstGeom prst="roundRect">
            <a:avLst>
              <a:gd name="adj" fmla="val 1882"/>
            </a:avLst>
          </a:prstGeom>
          <a:solidFill>
            <a:srgbClr val="F5F8FA"/>
          </a:solidFill>
          <a:ln w="13970">
            <a:solidFill>
              <a:srgbClr val="C9D4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1709928"/>
            <a:ext cx="492861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Weak approach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58952" y="2029968"/>
            <a:ext cx="4928616" cy="33192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Memorise the definition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Copy code without understanding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No browser evidence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No test note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55080" y="1572768"/>
            <a:ext cx="5257800" cy="3886200"/>
          </a:xfrm>
          <a:prstGeom prst="roundRect">
            <a:avLst>
              <a:gd name="adj" fmla="val 1882"/>
            </a:avLst>
          </a:prstGeom>
          <a:solidFill>
            <a:srgbClr val="EAF6F1"/>
          </a:solidFill>
          <a:ln w="13970">
            <a:solidFill>
              <a:srgbClr val="9BCDB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19672" y="1709928"/>
            <a:ext cx="492861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Professional approach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19672" y="2029968"/>
            <a:ext cx="4928616" cy="33192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Explain the concept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Apply the correct code pattern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Inspect the result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Commit and describe the evidence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12 | UX &amp; TESTING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Common mistake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777240" y="1554480"/>
            <a:ext cx="5029200" cy="2743200"/>
          </a:xfrm>
          <a:prstGeom prst="roundRect">
            <a:avLst>
              <a:gd name="adj" fmla="val 2667"/>
            </a:avLst>
          </a:prstGeom>
          <a:solidFill>
            <a:srgbClr val="FDEAEA"/>
          </a:solidFill>
          <a:ln w="13970">
            <a:solidFill>
              <a:srgbClr val="DD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" y="1691640"/>
            <a:ext cx="470001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Mistake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41832" y="2011680"/>
            <a:ext cx="4700016" cy="21762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The page appears unchanged, but the student assumes the feature is complete.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55080" y="1554480"/>
            <a:ext cx="5029200" cy="2743200"/>
          </a:xfrm>
          <a:prstGeom prst="roundRect">
            <a:avLst>
              <a:gd name="adj" fmla="val 2667"/>
            </a:avLst>
          </a:prstGeom>
          <a:solidFill>
            <a:srgbClr val="EAF6F1"/>
          </a:solidFill>
          <a:ln w="13970">
            <a:solidFill>
              <a:srgbClr val="9BCDB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19672" y="1691640"/>
            <a:ext cx="470001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Correction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19672" y="2011680"/>
            <a:ext cx="4700016" cy="21762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Check the correct file, refresh the browser, inspect DevTools, and verify the expected output.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12 | UX &amp; TESTING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Why does this fail?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731520" y="1463040"/>
            <a:ext cx="5394960" cy="4206240"/>
          </a:xfrm>
          <a:prstGeom prst="roundRect">
            <a:avLst>
              <a:gd name="adj" fmla="val 1739"/>
            </a:avLst>
          </a:prstGeom>
          <a:solidFill>
            <a:srgbClr val="1F2D3A"/>
          </a:solidFill>
          <a:ln w="12700">
            <a:solidFill>
              <a:srgbClr val="1F2D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600200"/>
            <a:ext cx="5120640" cy="3931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Broken checkpoint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File changed, but the browser result does not change.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Possible causes: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- wrong file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- file not linked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- syntax error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- browser not refreshed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629400" y="2011680"/>
            <a:ext cx="4297680" cy="1463040"/>
          </a:xfrm>
          <a:prstGeom prst="roundRect">
            <a:avLst>
              <a:gd name="adj" fmla="val 5000"/>
            </a:avLst>
          </a:prstGeom>
          <a:solidFill>
            <a:srgbClr val="FFF7DF"/>
          </a:solidFill>
          <a:ln w="13970">
            <a:solidFill>
              <a:srgbClr val="C89D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93992" y="2148840"/>
            <a:ext cx="396849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Class question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793992" y="2468880"/>
            <a:ext cx="3968496" cy="8961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Which cause would you check first, and why?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12 | UX &amp; TESTING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Fix the problem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822960" y="1417320"/>
            <a:ext cx="10515600" cy="4297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2100" dirty="0">
                <a:solidFill>
                  <a:srgbClr val="2A2F33"/>
                </a:solidFill>
              </a:rPr>
              <a:t>Confirm the browser is opening the correct file</a:t>
            </a:r>
            <a:endParaRPr lang="en-US" sz="2100" dirty="0"/>
          </a:p>
          <a:p>
            <a:r>
              <a:rPr lang="en-US" sz="2100" dirty="0">
                <a:solidFill>
                  <a:srgbClr val="2A2F33"/>
                </a:solidFill>
              </a:rPr>
              <a:t>Check links to CSS/JS/data files</a:t>
            </a:r>
            <a:endParaRPr lang="en-US" sz="2100" dirty="0"/>
          </a:p>
          <a:p>
            <a:r>
              <a:rPr lang="en-US" sz="2100" dirty="0">
                <a:solidFill>
                  <a:srgbClr val="2A2F33"/>
                </a:solidFill>
              </a:rPr>
              <a:t>Inspect the console for errors</a:t>
            </a:r>
            <a:endParaRPr lang="en-US" sz="2100" dirty="0"/>
          </a:p>
          <a:p>
            <a:r>
              <a:rPr lang="en-US" sz="2100" dirty="0">
                <a:solidFill>
                  <a:srgbClr val="2A2F33"/>
                </a:solidFill>
              </a:rPr>
              <a:t>Use a small working example</a:t>
            </a:r>
            <a:endParaRPr lang="en-US" sz="2100" dirty="0"/>
          </a:p>
          <a:p>
            <a:r>
              <a:rPr lang="en-US" sz="2100" dirty="0">
                <a:solidFill>
                  <a:srgbClr val="2A2F33"/>
                </a:solidFill>
              </a:rPr>
              <a:t>Test again before committing</a:t>
            </a:r>
            <a:endParaRPr lang="en-US" sz="2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12 | UX &amp; TESTING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Class activity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914400" y="1554480"/>
            <a:ext cx="10241280" cy="1828800"/>
          </a:xfrm>
          <a:prstGeom prst="roundRect">
            <a:avLst>
              <a:gd name="adj" fmla="val 4000"/>
            </a:avLst>
          </a:prstGeom>
          <a:solidFill>
            <a:srgbClr val="EAF6F1"/>
          </a:solidFill>
          <a:ln w="13970">
            <a:solidFill>
              <a:srgbClr val="9BCDB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8992" y="1691640"/>
            <a:ext cx="991209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Activity - 7 minutes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78992" y="2011680"/>
            <a:ext cx="9912096" cy="1261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Inspect the project and list the three most important issues to fix before deployment.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143000" y="3840480"/>
            <a:ext cx="9784080" cy="1280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2000" dirty="0">
                <a:solidFill>
                  <a:srgbClr val="2A2F33"/>
                </a:solidFill>
              </a:rPr>
              <a:t>Work in pairs</a:t>
            </a:r>
            <a:endParaRPr lang="en-US" sz="2000" dirty="0"/>
          </a:p>
          <a:p>
            <a:r>
              <a:rPr lang="en-US" sz="2000" dirty="0">
                <a:solidFill>
                  <a:srgbClr val="2A2F33"/>
                </a:solidFill>
              </a:rPr>
              <a:t>Point to the project evidence</a:t>
            </a:r>
            <a:endParaRPr lang="en-US" sz="2000" dirty="0"/>
          </a:p>
          <a:p>
            <a:r>
              <a:rPr lang="en-US" sz="2000" dirty="0">
                <a:solidFill>
                  <a:srgbClr val="2A2F33"/>
                </a:solidFill>
              </a:rPr>
              <a:t>Prepare one answer to share</a:t>
            </a:r>
            <a:endParaRPr lang="en-US" sz="2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12 | UX &amp; TESTING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Implementation steps 1-3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914400" y="1600200"/>
            <a:ext cx="10332720" cy="4297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2200" dirty="0">
                <a:solidFill>
                  <a:srgbClr val="2A2F33"/>
                </a:solidFill>
              </a:rPr>
              <a:t>Create a testing checklist</a:t>
            </a:r>
            <a:endParaRPr lang="en-US" sz="2200" dirty="0"/>
          </a:p>
          <a:p>
            <a:r>
              <a:rPr lang="en-US" sz="2200" dirty="0">
                <a:solidFill>
                  <a:srgbClr val="2A2F33"/>
                </a:solidFill>
              </a:rPr>
              <a:t>Validate HTML and CSS</a:t>
            </a:r>
            <a:endParaRPr lang="en-US" sz="2200" dirty="0"/>
          </a:p>
          <a:p>
            <a:r>
              <a:rPr lang="en-US" sz="2200" dirty="0">
                <a:solidFill>
                  <a:srgbClr val="2A2F33"/>
                </a:solidFill>
              </a:rPr>
              <a:t>Test keyboard navigation and focus</a:t>
            </a:r>
            <a:endParaRPr lang="en-US" sz="2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12 | UX &amp; TESTING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Implementation steps 4-5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914400" y="1600200"/>
            <a:ext cx="10332720" cy="4297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2200" dirty="0">
                <a:solidFill>
                  <a:srgbClr val="2A2F33"/>
                </a:solidFill>
              </a:rPr>
              <a:t>Run responsive and performance checks</a:t>
            </a:r>
            <a:endParaRPr lang="en-US" sz="2200" dirty="0"/>
          </a:p>
          <a:p>
            <a:r>
              <a:rPr lang="en-US" sz="2200" dirty="0">
                <a:solidFill>
                  <a:srgbClr val="2A2F33"/>
                </a:solidFill>
              </a:rPr>
              <a:t>Record fixes in a test report</a:t>
            </a:r>
            <a:endParaRPr lang="en-US" sz="2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12 | UX &amp; TESTING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LIVE DEMO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914400" y="1417320"/>
            <a:ext cx="5029200" cy="4251960"/>
          </a:xfrm>
          <a:prstGeom prst="roundRect">
            <a:avLst>
              <a:gd name="adj" fmla="val 1720"/>
            </a:avLst>
          </a:prstGeom>
          <a:solidFill>
            <a:srgbClr val="F5F8FA"/>
          </a:solidFill>
          <a:ln w="13970">
            <a:solidFill>
              <a:srgbClr val="CAD3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8992" y="1554480"/>
            <a:ext cx="470001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Demo checklist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78992" y="1874520"/>
            <a:ext cx="4700016" cy="3685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1. Open the current project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2. Locate the affected file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3. Add or modify the key code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4. Refresh the browser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5. Inspect the result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6. Explain the change</a:t>
            </a:r>
            <a:endParaRPr lang="en-US" sz="1250" dirty="0"/>
          </a:p>
        </p:txBody>
      </p:sp>
      <p:pic>
        <p:nvPicPr>
          <p:cNvPr id="9" name="Image 0" descr="/mnt/data/IS229_All_Weeks_Formatted_Student_Materials/assets/week_12_visu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1417320"/>
            <a:ext cx="5029200" cy="425196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12 | UX &amp; TESTING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Predict the output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822960" y="1417320"/>
            <a:ext cx="5257800" cy="4114800"/>
          </a:xfrm>
          <a:prstGeom prst="roundRect">
            <a:avLst>
              <a:gd name="adj" fmla="val 1778"/>
            </a:avLst>
          </a:prstGeom>
          <a:solidFill>
            <a:srgbClr val="1F2D3A"/>
          </a:solidFill>
          <a:ln w="12700">
            <a:solidFill>
              <a:srgbClr val="1F2D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554480"/>
            <a:ext cx="4983480" cy="3840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&lt;img src="assets/images/market.jpg" alt="Local market in Morobe"&gt;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583680" y="1920240"/>
            <a:ext cx="4297680" cy="1645920"/>
          </a:xfrm>
          <a:prstGeom prst="roundRect">
            <a:avLst>
              <a:gd name="adj" fmla="val 4444"/>
            </a:avLst>
          </a:prstGeom>
          <a:solidFill>
            <a:srgbClr val="FFF7DF"/>
          </a:solidFill>
          <a:ln w="13970">
            <a:solidFill>
              <a:srgbClr val="C89D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48272" y="2057400"/>
            <a:ext cx="396849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Prediction prompt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748272" y="2377440"/>
            <a:ext cx="3968496" cy="10789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What should change on screen when this code is applied correctly?</a:t>
            </a:r>
            <a:endParaRPr lang="en-US" sz="12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12 | UX &amp; TESTING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Browser result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pic>
        <p:nvPicPr>
          <p:cNvPr id="6" name="Image 0" descr="/mnt/data/IS229_All_Weeks_Formatted_Student_Materials/assets/week_12_visu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234440"/>
            <a:ext cx="10881360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12 | UX &amp; TESTING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Testing the feature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822960" y="1417320"/>
            <a:ext cx="10607040" cy="4206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2000" dirty="0">
                <a:solidFill>
                  <a:srgbClr val="2A2F33"/>
                </a:solidFill>
              </a:rPr>
              <a:t>Verify broken links</a:t>
            </a:r>
            <a:endParaRPr lang="en-US" sz="2000" dirty="0"/>
          </a:p>
          <a:p>
            <a:r>
              <a:rPr lang="en-US" sz="2000" dirty="0">
                <a:solidFill>
                  <a:srgbClr val="2A2F33"/>
                </a:solidFill>
              </a:rPr>
              <a:t>Check console errors</a:t>
            </a:r>
            <a:endParaRPr lang="en-US" sz="2000" dirty="0"/>
          </a:p>
          <a:p>
            <a:r>
              <a:rPr lang="en-US" sz="2000" dirty="0">
                <a:solidFill>
                  <a:srgbClr val="2A2F33"/>
                </a:solidFill>
              </a:rPr>
              <a:t>Run Lighthouse or manual accessibility checks</a:t>
            </a:r>
            <a:endParaRPr lang="en-US" sz="2000" dirty="0"/>
          </a:p>
          <a:p>
            <a:r>
              <a:rPr lang="en-US" sz="2000" dirty="0">
                <a:solidFill>
                  <a:srgbClr val="2A2F33"/>
                </a:solidFill>
              </a:rPr>
              <a:t>Retest after fixing problems</a:t>
            </a:r>
            <a:endParaRPr lang="en-US" sz="2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12 | UX &amp; TESTING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Inspect with browser tools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914400" y="1554480"/>
            <a:ext cx="5029200" cy="3108960"/>
          </a:xfrm>
          <a:prstGeom prst="roundRect">
            <a:avLst>
              <a:gd name="adj" fmla="val 2353"/>
            </a:avLst>
          </a:prstGeom>
          <a:solidFill>
            <a:srgbClr val="F5F8FA"/>
          </a:solidFill>
          <a:ln w="13970">
            <a:solidFill>
              <a:srgbClr val="CAD3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8992" y="1691640"/>
            <a:ext cx="470001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Inspection path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78992" y="2011680"/>
            <a:ext cx="4700016" cy="2542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Right click -&gt; Inspect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Elements panel -&gt; structure/classes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Console -&gt; JavaScript errors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Network/Application -&gt; data/storage when relevant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0" y="1554480"/>
            <a:ext cx="4663440" cy="3108960"/>
          </a:xfrm>
          <a:prstGeom prst="roundRect">
            <a:avLst>
              <a:gd name="adj" fmla="val 2353"/>
            </a:avLst>
          </a:prstGeom>
          <a:solidFill>
            <a:srgbClr val="EAF6F1"/>
          </a:solidFill>
          <a:ln w="13970">
            <a:solidFill>
              <a:srgbClr val="9BCDB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65392" y="1691640"/>
            <a:ext cx="433425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Evidence to save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65392" y="2011680"/>
            <a:ext cx="4334256" cy="2542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Screenshot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Short test note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Changed files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Git commit message</a:t>
            </a:r>
            <a:endParaRPr lang="en-US" sz="12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12 | UX &amp; TESTING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Git evidence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914400" y="1828800"/>
            <a:ext cx="5760720" cy="1828800"/>
          </a:xfrm>
          <a:prstGeom prst="roundRect">
            <a:avLst>
              <a:gd name="adj" fmla="val 4000"/>
            </a:avLst>
          </a:prstGeom>
          <a:solidFill>
            <a:srgbClr val="1F2D3A"/>
          </a:solidFill>
          <a:ln w="12700">
            <a:solidFill>
              <a:srgbClr val="1F2D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965960"/>
            <a:ext cx="5486400" cy="1554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-m "Week 12 UX &amp; Testing project increment"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040880" y="1920240"/>
            <a:ext cx="4160520" cy="1645920"/>
          </a:xfrm>
          <a:prstGeom prst="roundRect">
            <a:avLst>
              <a:gd name="adj" fmla="val 4444"/>
            </a:avLst>
          </a:prstGeom>
          <a:solidFill>
            <a:srgbClr val="FFF7DF"/>
          </a:solidFill>
          <a:ln w="13970">
            <a:solidFill>
              <a:srgbClr val="C89D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205472" y="2057400"/>
            <a:ext cx="383133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Why it matters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205472" y="2377440"/>
            <a:ext cx="3831336" cy="10789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Git history shows progression from Week 01 to final deployment. It is part of the assessment evidence.</a:t>
            </a:r>
            <a:endParaRPr lang="en-US" sz="12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12 | UX &amp; TESTING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Complete source code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914400" y="1508760"/>
            <a:ext cx="7406640" cy="3383280"/>
          </a:xfrm>
          <a:prstGeom prst="roundRect">
            <a:avLst>
              <a:gd name="adj" fmla="val 2162"/>
            </a:avLst>
          </a:prstGeom>
          <a:solidFill>
            <a:srgbClr val="1F2D3A"/>
          </a:solidFill>
          <a:ln w="12700">
            <a:solidFill>
              <a:srgbClr val="1F2D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645920"/>
            <a:ext cx="7132320" cy="3108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Repository: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https://github.com/YOUR-USERNAME/is229-morobe-discover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Weekly folder: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/week-12/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Complete project: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/complete-project/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732520" y="2011680"/>
            <a:ext cx="2377440" cy="1828800"/>
          </a:xfrm>
          <a:prstGeom prst="roundRect">
            <a:avLst>
              <a:gd name="adj" fmla="val 4000"/>
            </a:avLst>
          </a:prstGeom>
          <a:solidFill>
            <a:srgbClr val="EAF6F1"/>
          </a:solidFill>
          <a:ln w="13970">
            <a:solidFill>
              <a:srgbClr val="9BCDB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97112" y="2148840"/>
            <a:ext cx="204825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Reminder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897112" y="2468880"/>
            <a:ext cx="2048256" cy="1261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Do not paste a whole file into a slide. Use the repository for complete code.</a:t>
            </a:r>
            <a:endParaRPr lang="en-US" sz="12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12 | UX &amp; TESTING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Mini challenge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914400" y="1554480"/>
            <a:ext cx="10241280" cy="1554480"/>
          </a:xfrm>
          <a:prstGeom prst="roundRect">
            <a:avLst>
              <a:gd name="adj" fmla="val 4706"/>
            </a:avLst>
          </a:prstGeom>
          <a:solidFill>
            <a:srgbClr val="FFF7DF"/>
          </a:solidFill>
          <a:ln w="13970">
            <a:solidFill>
              <a:srgbClr val="C89D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8992" y="1691640"/>
            <a:ext cx="991209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Challenge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78992" y="2011680"/>
            <a:ext cx="9912096" cy="9875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Modify one part of the Week 12 implementation and explain what changed in the browser.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097280" y="3657600"/>
            <a:ext cx="9875520" cy="1554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2000" dirty="0">
                <a:solidFill>
                  <a:srgbClr val="2A2F33"/>
                </a:solidFill>
              </a:rPr>
              <a:t>State the file edited</a:t>
            </a:r>
            <a:endParaRPr lang="en-US" sz="2000" dirty="0"/>
          </a:p>
          <a:p>
            <a:r>
              <a:rPr lang="en-US" sz="2000" dirty="0">
                <a:solidFill>
                  <a:srgbClr val="2A2F33"/>
                </a:solidFill>
              </a:rPr>
              <a:t>State the line/section changed</a:t>
            </a:r>
            <a:endParaRPr lang="en-US" sz="2000" dirty="0"/>
          </a:p>
          <a:p>
            <a:r>
              <a:rPr lang="en-US" sz="2000" dirty="0">
                <a:solidFill>
                  <a:srgbClr val="2A2F33"/>
                </a:solidFill>
              </a:rPr>
              <a:t>Show the before and after result</a:t>
            </a:r>
            <a:endParaRPr lang="en-US" sz="2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12 | UX &amp; TESTING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What counts as evidence?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594360" y="1572768"/>
            <a:ext cx="5257800" cy="3886200"/>
          </a:xfrm>
          <a:prstGeom prst="roundRect">
            <a:avLst>
              <a:gd name="adj" fmla="val 1882"/>
            </a:avLst>
          </a:prstGeom>
          <a:solidFill>
            <a:srgbClr val="F5F8FA"/>
          </a:solidFill>
          <a:ln w="13970">
            <a:solidFill>
              <a:srgbClr val="C9D4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1709928"/>
            <a:ext cx="492861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Technical evidence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58952" y="2029968"/>
            <a:ext cx="4928616" cy="33192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Changed code files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Browser screenshot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Test note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Git commit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55080" y="1572768"/>
            <a:ext cx="5257800" cy="3886200"/>
          </a:xfrm>
          <a:prstGeom prst="roundRect">
            <a:avLst>
              <a:gd name="adj" fmla="val 1882"/>
            </a:avLst>
          </a:prstGeom>
          <a:solidFill>
            <a:srgbClr val="EAF6F1"/>
          </a:solidFill>
          <a:ln w="13970">
            <a:solidFill>
              <a:srgbClr val="9BCDB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19672" y="1709928"/>
            <a:ext cx="492861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Understanding evidence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19672" y="2029968"/>
            <a:ext cx="4928616" cy="33192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Code explanation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Why this method fits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Connection to previous week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Connection to next week</a:t>
            </a:r>
            <a:endParaRPr lang="en-US" sz="12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12 | UX &amp; TESTING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Project lab handoff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731520" y="1325880"/>
            <a:ext cx="10881360" cy="4023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800" dirty="0">
                <a:solidFill>
                  <a:srgbClr val="2A2F33"/>
                </a:solidFill>
              </a:rPr>
              <a:t>Create a testing checklist</a:t>
            </a:r>
            <a:endParaRPr lang="en-US" sz="1800" dirty="0"/>
          </a:p>
          <a:p>
            <a:r>
              <a:rPr lang="en-US" sz="1800" dirty="0">
                <a:solidFill>
                  <a:srgbClr val="2A2F33"/>
                </a:solidFill>
              </a:rPr>
              <a:t>Validate HTML and CSS</a:t>
            </a:r>
            <a:endParaRPr lang="en-US" sz="1800" dirty="0"/>
          </a:p>
          <a:p>
            <a:r>
              <a:rPr lang="en-US" sz="1800" dirty="0">
                <a:solidFill>
                  <a:srgbClr val="2A2F33"/>
                </a:solidFill>
              </a:rPr>
              <a:t>Test keyboard navigation and focus</a:t>
            </a:r>
            <a:endParaRPr lang="en-US" sz="1800" dirty="0"/>
          </a:p>
          <a:p>
            <a:r>
              <a:rPr lang="en-US" sz="1800" dirty="0">
                <a:solidFill>
                  <a:srgbClr val="2A2F33"/>
                </a:solidFill>
              </a:rPr>
              <a:t>Run responsive and performance checks</a:t>
            </a:r>
            <a:endParaRPr lang="en-US" sz="1800" dirty="0"/>
          </a:p>
          <a:p>
            <a:r>
              <a:rPr lang="en-US" sz="1800" dirty="0">
                <a:solidFill>
                  <a:srgbClr val="2A2F33"/>
                </a:solidFill>
              </a:rPr>
              <a:t>Record fixes in a test report</a:t>
            </a:r>
            <a:endParaRPr lang="en-US" sz="1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12 | UX &amp; TESTING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Definition of done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822960" y="1417320"/>
            <a:ext cx="10515600" cy="4297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2100" dirty="0">
                <a:solidFill>
                  <a:srgbClr val="2A2F33"/>
                </a:solidFill>
              </a:rPr>
              <a:t>Week 12 feature is implemented</a:t>
            </a:r>
            <a:endParaRPr lang="en-US" sz="2100" dirty="0"/>
          </a:p>
          <a:p>
            <a:r>
              <a:rPr lang="en-US" sz="2100" dirty="0">
                <a:solidFill>
                  <a:srgbClr val="2A2F33"/>
                </a:solidFill>
              </a:rPr>
              <a:t>Project still preserves earlier week features</a:t>
            </a:r>
            <a:endParaRPr lang="en-US" sz="2100" dirty="0"/>
          </a:p>
          <a:p>
            <a:r>
              <a:rPr lang="en-US" sz="2100" dirty="0">
                <a:solidFill>
                  <a:srgbClr val="2A2F33"/>
                </a:solidFill>
              </a:rPr>
              <a:t>Browser result matches the expected output</a:t>
            </a:r>
            <a:endParaRPr lang="en-US" sz="2100" dirty="0"/>
          </a:p>
          <a:p>
            <a:r>
              <a:rPr lang="en-US" sz="2100" dirty="0">
                <a:solidFill>
                  <a:srgbClr val="2A2F33"/>
                </a:solidFill>
              </a:rPr>
              <a:t>Test note and screenshot are saved</a:t>
            </a:r>
            <a:endParaRPr lang="en-US" sz="2100" dirty="0"/>
          </a:p>
          <a:p>
            <a:r>
              <a:rPr lang="en-US" sz="2100" dirty="0">
                <a:solidFill>
                  <a:srgbClr val="2A2F33"/>
                </a:solidFill>
              </a:rPr>
              <a:t>Git commit message is meaningful</a:t>
            </a:r>
            <a:endParaRPr lang="en-US" sz="2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12 | UX &amp; TESTING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What we built today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pic>
        <p:nvPicPr>
          <p:cNvPr id="6" name="Image 0" descr="/mnt/data/IS229_All_Weeks_Formatted_Student_Materials/assets/week_12_visu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71600"/>
            <a:ext cx="5440680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46520" y="1600200"/>
            <a:ext cx="4754880" cy="3474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900" dirty="0">
                <a:solidFill>
                  <a:srgbClr val="2A2F33"/>
                </a:solidFill>
              </a:rPr>
              <a:t>The site has documented quality evidence: validation, accessibility, responsiveness and performance checks.</a:t>
            </a:r>
            <a:endParaRPr lang="en-US" sz="1900" dirty="0"/>
          </a:p>
          <a:p>
            <a:r>
              <a:rPr lang="en-US" sz="1900" dirty="0">
                <a:solidFill>
                  <a:srgbClr val="2A2F33"/>
                </a:solidFill>
              </a:rPr>
              <a:t>Evidence: Accessibility checks, validation reports and quality tests</a:t>
            </a:r>
            <a:endParaRPr lang="en-US" sz="1900" dirty="0"/>
          </a:p>
          <a:p>
            <a:r>
              <a:rPr lang="en-US" sz="1900" dirty="0">
                <a:solidFill>
                  <a:srgbClr val="2A2F33"/>
                </a:solidFill>
              </a:rPr>
              <a:t>Technology: Testing Tools</a:t>
            </a:r>
            <a:endParaRPr lang="en-US" sz="1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12 | UX &amp; TESTING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Lecture summary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822960" y="1417320"/>
            <a:ext cx="10515600" cy="4297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900" dirty="0">
                <a:solidFill>
                  <a:srgbClr val="2A2F33"/>
                </a:solidFill>
              </a:rPr>
              <a:t>Professional release requires evidence: tests, screenshots, validation reports and fixes.</a:t>
            </a:r>
            <a:endParaRPr lang="en-US" sz="1900" dirty="0"/>
          </a:p>
          <a:p>
            <a:r>
              <a:rPr lang="en-US" sz="1900" dirty="0">
                <a:solidFill>
                  <a:srgbClr val="2A2F33"/>
                </a:solidFill>
              </a:rPr>
              <a:t>Testing checks what users actually do</a:t>
            </a:r>
            <a:endParaRPr lang="en-US" sz="1900" dirty="0"/>
          </a:p>
          <a:p>
            <a:r>
              <a:rPr lang="en-US" sz="1900" dirty="0">
                <a:solidFill>
                  <a:srgbClr val="2A2F33"/>
                </a:solidFill>
              </a:rPr>
              <a:t>Validation finds code errors that browsers may hide</a:t>
            </a:r>
            <a:endParaRPr lang="en-US" sz="1900" dirty="0"/>
          </a:p>
          <a:p>
            <a:r>
              <a:rPr lang="en-US" sz="1900" dirty="0">
                <a:solidFill>
                  <a:srgbClr val="2A2F33"/>
                </a:solidFill>
              </a:rPr>
              <a:t>Testing and Git are part of development, not extras</a:t>
            </a:r>
            <a:endParaRPr lang="en-US" sz="1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12 | UX &amp; TESTING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Prepare for next class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822960" y="1600200"/>
            <a:ext cx="10424160" cy="3931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2100" dirty="0">
                <a:solidFill>
                  <a:srgbClr val="2A2F33"/>
                </a:solidFill>
              </a:rPr>
              <a:t>Finish this week’s lab before the next class</a:t>
            </a:r>
            <a:endParaRPr lang="en-US" sz="2100" dirty="0"/>
          </a:p>
          <a:p>
            <a:r>
              <a:rPr lang="en-US" sz="2100" dirty="0">
                <a:solidFill>
                  <a:srgbClr val="2A2F33"/>
                </a:solidFill>
              </a:rPr>
              <a:t>Read the next topic in advance</a:t>
            </a:r>
            <a:endParaRPr lang="en-US" sz="2100" dirty="0"/>
          </a:p>
          <a:p>
            <a:r>
              <a:rPr lang="en-US" sz="2100" dirty="0">
                <a:solidFill>
                  <a:srgbClr val="2A2F33"/>
                </a:solidFill>
              </a:rPr>
              <a:t>Bring the current project ready to extend</a:t>
            </a:r>
            <a:endParaRPr lang="en-US" sz="2100" dirty="0"/>
          </a:p>
          <a:p>
            <a:r>
              <a:rPr lang="en-US" sz="2100" dirty="0">
                <a:solidFill>
                  <a:srgbClr val="2A2F33"/>
                </a:solidFill>
              </a:rPr>
              <a:t>Be ready to explain one code decision</a:t>
            </a:r>
            <a:endParaRPr lang="en-US" sz="2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12 | UX &amp; TESTING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Exit question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1005840" y="1965960"/>
            <a:ext cx="10241280" cy="1463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5466B"/>
                </a:solidFill>
              </a:rPr>
              <a:t>How did Week 12 improve Morobe Discover, and what will the next week build on?</a:t>
            </a:r>
            <a:endParaRPr lang="en-US" sz="3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>PNG University of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IS229 Week 12 UX &amp; Testing</dc:title>
  <dc:subject>IS229 Web Design</dc:subject>
  <dc:creator>Mr. Maxie Cletus Tepaiyan</dc:creator>
  <cp:lastModifiedBy>Mr. Maxie Cletus Tepaiyan</cp:lastModifiedBy>
  <cp:revision>1</cp:revision>
  <dcterms:created xsi:type="dcterms:W3CDTF">2026-08-17T00:45:04Z</dcterms:created>
  <dcterms:modified xsi:type="dcterms:W3CDTF">2026-08-17T00:45:04Z</dcterms:modified>
</cp:coreProperties>
</file>